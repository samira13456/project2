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17"/>
  </p:notesMasterIdLst>
  <p:sldIdLst>
    <p:sldId id="256" r:id="rId2"/>
    <p:sldId id="258" r:id="rId3"/>
    <p:sldId id="259" r:id="rId4"/>
    <p:sldId id="257" r:id="rId5"/>
    <p:sldId id="260" r:id="rId6"/>
    <p:sldId id="261" r:id="rId7"/>
    <p:sldId id="269" r:id="rId8"/>
    <p:sldId id="270" r:id="rId9"/>
    <p:sldId id="271" r:id="rId10"/>
    <p:sldId id="272" r:id="rId11"/>
    <p:sldId id="273" r:id="rId12"/>
    <p:sldId id="276" r:id="rId13"/>
    <p:sldId id="275" r:id="rId14"/>
    <p:sldId id="264" r:id="rId15"/>
    <p:sldId id="274" r:id="rId16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DM Serif Display" panose="020B0604020202020204" charset="0"/>
      <p:regular r:id="rId22"/>
      <p:italic r:id="rId23"/>
    </p:embeddedFont>
    <p:embeddedFont>
      <p:font typeface="DM Sans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B8C"/>
    <a:srgbClr val="EEE8D1"/>
    <a:srgbClr val="EFE8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98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1255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3530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6596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0980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2757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4767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6991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3230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10647600" y="4850700"/>
            <a:ext cx="6075300" cy="141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8100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8100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marL="2286000" lvl="4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marL="2743200" lvl="5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marL="3200400" lvl="6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marL="3657600" lvl="7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marL="4114800" lvl="8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2"/>
          </p:nvPr>
        </p:nvSpPr>
        <p:spPr>
          <a:xfrm>
            <a:off x="10647600" y="4057589"/>
            <a:ext cx="6104400" cy="54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645564" y="-1371862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109100" y="3810000"/>
            <a:ext cx="7075800" cy="265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One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>
            <a:spLocks noGrp="1"/>
          </p:cNvSpPr>
          <p:nvPr>
            <p:ph type="pic" idx="2"/>
          </p:nvPr>
        </p:nvSpPr>
        <p:spPr>
          <a:xfrm>
            <a:off x="9683750" y="2875"/>
            <a:ext cx="86130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1028700" y="2595375"/>
            <a:ext cx="7420500" cy="5467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8100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8100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marL="2286000" lvl="4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marL="2743200" lvl="5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marL="3200400" lvl="6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marL="3657600" lvl="7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marL="4114800" lvl="8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1005425" y="1164175"/>
            <a:ext cx="7420500" cy="113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750187" y="-3750187"/>
            <a:ext cx="6706225" cy="67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Two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34875" y="7500613"/>
            <a:ext cx="6706225" cy="670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>
            <a:spLocks noGrp="1"/>
          </p:cNvSpPr>
          <p:nvPr>
            <p:ph type="pic" idx="2"/>
          </p:nvPr>
        </p:nvSpPr>
        <p:spPr>
          <a:xfrm>
            <a:off x="0" y="1137700"/>
            <a:ext cx="9125100" cy="363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5"/>
          <p:cNvSpPr>
            <a:spLocks noGrp="1"/>
          </p:cNvSpPr>
          <p:nvPr>
            <p:ph type="pic" idx="3"/>
          </p:nvPr>
        </p:nvSpPr>
        <p:spPr>
          <a:xfrm>
            <a:off x="0" y="5636300"/>
            <a:ext cx="9125100" cy="36306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9683725" y="2631350"/>
            <a:ext cx="8089800" cy="206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8100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8100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marL="2286000" lvl="4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marL="2743200" lvl="5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marL="3200400" lvl="6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marL="3657600" lvl="7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marL="4114800" lvl="8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58350" y="1200150"/>
            <a:ext cx="8089800" cy="113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4"/>
          </p:nvPr>
        </p:nvSpPr>
        <p:spPr>
          <a:xfrm>
            <a:off x="9671038" y="7132800"/>
            <a:ext cx="8089800" cy="206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8100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8100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marL="2286000" lvl="4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marL="2743200" lvl="5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marL="3200400" lvl="6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marL="3657600" lvl="7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marL="4114800" lvl="8" indent="-381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 idx="5"/>
          </p:nvPr>
        </p:nvSpPr>
        <p:spPr>
          <a:xfrm>
            <a:off x="9645663" y="5701600"/>
            <a:ext cx="8089800" cy="113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4400"/>
              <a:buFont typeface="DM Serif Display"/>
              <a:buNone/>
              <a:defRPr sz="4400" i="0" u="none" strike="noStrike" cap="non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 sz="1800">
                <a:solidFill>
                  <a:srgbClr val="1F1F1F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1F1F1F"/>
              </a:buClr>
              <a:buSzPts val="3200"/>
              <a:buFont typeface="DM Serif Display"/>
              <a:buChar char="•"/>
              <a:defRPr sz="3200" i="0" u="none" strike="noStrike" cap="non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DM Sans"/>
              <a:buChar char="–"/>
              <a:defRPr sz="28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1F1F1F"/>
              </a:buClr>
              <a:buSzPts val="2400"/>
              <a:buFont typeface="DM Sans"/>
              <a:buChar char="•"/>
              <a:defRPr sz="24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–"/>
              <a:defRPr sz="20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»"/>
              <a:defRPr sz="20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91879" y="4692480"/>
            <a:ext cx="6857976" cy="6857976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/>
          <p:nvPr/>
        </p:nvSpPr>
        <p:spPr>
          <a:xfrm>
            <a:off x="1868163" y="2877060"/>
            <a:ext cx="16253582" cy="1711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900" dirty="0" smtClean="0">
                <a:solidFill>
                  <a:srgbClr val="1F1F1F"/>
                </a:solidFill>
                <a:latin typeface="DM Serif Display" panose="020B0604020202020204" charset="0"/>
                <a:sym typeface="DM Serif Display"/>
              </a:rPr>
              <a:t>Менеджер паролей</a:t>
            </a:r>
            <a:endParaRPr sz="1100" dirty="0">
              <a:latin typeface="DM Sans" panose="020B0604020202020204" charset="0"/>
            </a:endParaRPr>
          </a:p>
        </p:txBody>
      </p:sp>
      <p:sp>
        <p:nvSpPr>
          <p:cNvPr id="40" name="Google Shape;40;p6"/>
          <p:cNvSpPr txBox="1"/>
          <p:nvPr/>
        </p:nvSpPr>
        <p:spPr>
          <a:xfrm>
            <a:off x="1868163" y="7971998"/>
            <a:ext cx="8495037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i="0" u="none" strike="noStrike" cap="none" dirty="0" smtClean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Выполнили</a:t>
            </a:r>
            <a:r>
              <a:rPr lang="en-US" sz="4400" i="0" u="none" strike="noStrike" cap="none" dirty="0" smtClean="0">
                <a:solidFill>
                  <a:srgbClr val="1F1F1F"/>
                </a:solidFill>
                <a:latin typeface="DM Sans" panose="020B0604020202020204" charset="0"/>
                <a:ea typeface="DM Serif Display"/>
                <a:cs typeface="DM Serif Display"/>
                <a:sym typeface="DM Serif Display"/>
              </a:rPr>
              <a:t>:</a:t>
            </a:r>
            <a:r>
              <a:rPr lang="ru-RU" sz="4400" i="0" u="none" strike="noStrike" cap="none" dirty="0" smtClean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Акбарова </a:t>
            </a:r>
            <a:r>
              <a:rPr lang="ru-RU" sz="4400" i="0" u="none" strike="noStrike" cap="none" dirty="0" err="1" smtClean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Самира</a:t>
            </a:r>
            <a:r>
              <a:rPr lang="ru-RU" sz="4400" i="0" u="none" strike="noStrike" cap="none" dirty="0" smtClean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,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dirty="0" err="1" smtClean="0">
                <a:solidFill>
                  <a:srgbClr val="1F1F1F"/>
                </a:solidFill>
                <a:latin typeface="DM Serif Display"/>
                <a:sym typeface="DM Serif Display"/>
              </a:rPr>
              <a:t>Горбатюк</a:t>
            </a:r>
            <a:r>
              <a:rPr lang="ru-RU" sz="4400" dirty="0" smtClean="0">
                <a:solidFill>
                  <a:srgbClr val="1F1F1F"/>
                </a:solidFill>
                <a:latin typeface="DM Serif Display"/>
                <a:sym typeface="DM Serif Display"/>
              </a:rPr>
              <a:t> Святогор</a:t>
            </a:r>
            <a:endParaRPr sz="4400" dirty="0">
              <a:latin typeface="DM Sans" panose="020B0604020202020204" charset="0"/>
            </a:endParaRPr>
          </a:p>
        </p:txBody>
      </p:sp>
      <p:sp>
        <p:nvSpPr>
          <p:cNvPr id="7" name="Google Shape;40;p6"/>
          <p:cNvSpPr txBox="1"/>
          <p:nvPr/>
        </p:nvSpPr>
        <p:spPr>
          <a:xfrm>
            <a:off x="2921109" y="4723255"/>
            <a:ext cx="13432798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ru-RU" sz="3200" dirty="0">
                <a:latin typeface="DM Serif Display" panose="020B0604020202020204" charset="0"/>
              </a:rPr>
              <a:t>Современное приложение на </a:t>
            </a:r>
            <a:r>
              <a:rPr lang="ru-RU" sz="3200" dirty="0" err="1">
                <a:latin typeface="DM Serif Display" panose="020B0604020202020204" charset="0"/>
              </a:rPr>
              <a:t>Python</a:t>
            </a:r>
            <a:r>
              <a:rPr lang="ru-RU" sz="3200" dirty="0">
                <a:latin typeface="DM Serif Display" panose="020B0604020202020204" charset="0"/>
              </a:rPr>
              <a:t> для хранения и генерации паролей</a:t>
            </a:r>
            <a:endParaRPr sz="4800" dirty="0">
              <a:latin typeface="DM Sans" panose="020B060402020202020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9222" y="6612082"/>
            <a:ext cx="2443290" cy="2443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7812" y="6536839"/>
            <a:ext cx="7500351" cy="75003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/>
        </p:nvSpPr>
        <p:spPr>
          <a:xfrm>
            <a:off x="762000" y="220200"/>
            <a:ext cx="7228609" cy="10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799" b="0" i="0" u="none" strike="noStrike" cap="none" dirty="0" smtClean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Цель и задачи</a:t>
            </a:r>
            <a:endParaRPr dirty="0">
              <a:latin typeface="DM Sans" panose="020B0604020202020204" charset="0"/>
            </a:endParaRPr>
          </a:p>
        </p:txBody>
      </p:sp>
      <p:grpSp>
        <p:nvGrpSpPr>
          <p:cNvPr id="57" name="Google Shape;57;p8"/>
          <p:cNvGrpSpPr/>
          <p:nvPr/>
        </p:nvGrpSpPr>
        <p:grpSpPr>
          <a:xfrm>
            <a:off x="762000" y="2442758"/>
            <a:ext cx="4876800" cy="7676071"/>
            <a:chOff x="-1" y="57150"/>
            <a:chExt cx="5685301" cy="10234759"/>
          </a:xfrm>
        </p:grpSpPr>
        <p:sp>
          <p:nvSpPr>
            <p:cNvPr id="58" name="Google Shape;58;p8"/>
            <p:cNvSpPr txBox="1"/>
            <p:nvPr/>
          </p:nvSpPr>
          <p:spPr>
            <a:xfrm>
              <a:off x="0" y="57150"/>
              <a:ext cx="5685300" cy="656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 b="1" i="0" u="none" strike="noStrike" cap="none" dirty="0" smtClean="0">
                  <a:solidFill>
                    <a:srgbClr val="1F1F1F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Цель</a:t>
              </a:r>
              <a:endParaRPr b="1" dirty="0">
                <a:latin typeface="DM Sans" panose="020B0604020202020204" charset="0"/>
              </a:endParaRPr>
            </a:p>
          </p:txBody>
        </p:sp>
        <p:sp>
          <p:nvSpPr>
            <p:cNvPr id="59" name="Google Shape;59;p8"/>
            <p:cNvSpPr txBox="1"/>
            <p:nvPr/>
          </p:nvSpPr>
          <p:spPr>
            <a:xfrm>
              <a:off x="-1" y="1042199"/>
              <a:ext cx="5685300" cy="92497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59081" lvl="1">
                <a:lnSpc>
                  <a:spcPct val="115000"/>
                </a:lnSpc>
                <a:buClr>
                  <a:srgbClr val="1F1F1F"/>
                </a:buClr>
                <a:buSzPts val="2400"/>
              </a:pPr>
              <a:r>
                <a:rPr lang="ru-RU" sz="2800" dirty="0">
                  <a:latin typeface="DM Serif Display" panose="020B0604020202020204" charset="0"/>
                </a:rPr>
                <a:t>Разработка современного настольного приложения «Менеджер паролей» на языке </a:t>
              </a:r>
              <a:r>
                <a:rPr lang="ru-RU" sz="2800" dirty="0" err="1">
                  <a:latin typeface="DM Serif Display" panose="020B0604020202020204" charset="0"/>
                </a:rPr>
                <a:t>Python</a:t>
              </a:r>
              <a:r>
                <a:rPr lang="ru-RU" sz="2800" dirty="0">
                  <a:latin typeface="DM Serif Display" panose="020B0604020202020204" charset="0"/>
                </a:rPr>
                <a:t> с использованием библиотеки </a:t>
              </a:r>
              <a:r>
                <a:rPr lang="ru-RU" sz="2800" dirty="0" err="1">
                  <a:latin typeface="DM Serif Display" panose="020B0604020202020204" charset="0"/>
                </a:rPr>
                <a:t>CustomTkinter</a:t>
              </a:r>
              <a:r>
                <a:rPr lang="ru-RU" sz="2800" dirty="0">
                  <a:latin typeface="DM Serif Display" panose="020B0604020202020204" charset="0"/>
                </a:rPr>
                <a:t> для безопасного хранения, генерации и удобного управления пользовательскими паролями.</a:t>
              </a:r>
              <a:endParaRPr sz="2800" dirty="0">
                <a:latin typeface="DM Serif Display" panose="020B0604020202020204" charset="0"/>
              </a:endParaRPr>
            </a:p>
          </p:txBody>
        </p:sp>
      </p:grpSp>
      <p:grpSp>
        <p:nvGrpSpPr>
          <p:cNvPr id="60" name="Google Shape;60;p8"/>
          <p:cNvGrpSpPr/>
          <p:nvPr/>
        </p:nvGrpSpPr>
        <p:grpSpPr>
          <a:xfrm>
            <a:off x="7406640" y="2442758"/>
            <a:ext cx="10641675" cy="5651433"/>
            <a:chOff x="0" y="240290"/>
            <a:chExt cx="5685300" cy="8640919"/>
          </a:xfrm>
        </p:grpSpPr>
        <p:sp>
          <p:nvSpPr>
            <p:cNvPr id="61" name="Google Shape;61;p8"/>
            <p:cNvSpPr txBox="1"/>
            <p:nvPr/>
          </p:nvSpPr>
          <p:spPr>
            <a:xfrm>
              <a:off x="0" y="240290"/>
              <a:ext cx="5685300" cy="656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 b="1" i="0" u="none" strike="noStrike" cap="none" dirty="0" smtClean="0">
                  <a:solidFill>
                    <a:srgbClr val="1F1F1F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Задачи</a:t>
              </a:r>
              <a:endParaRPr b="1" dirty="0"/>
            </a:p>
          </p:txBody>
        </p:sp>
        <p:sp>
          <p:nvSpPr>
            <p:cNvPr id="62" name="Google Shape;62;p8"/>
            <p:cNvSpPr txBox="1"/>
            <p:nvPr/>
          </p:nvSpPr>
          <p:spPr>
            <a:xfrm>
              <a:off x="0" y="1304811"/>
              <a:ext cx="5645131" cy="7576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59081" lvl="1">
                <a:lnSpc>
                  <a:spcPct val="115000"/>
                </a:lnSpc>
                <a:buClr>
                  <a:srgbClr val="1F1F1F"/>
                </a:buClr>
                <a:buSzPts val="2400"/>
              </a:pPr>
              <a:r>
                <a:rPr lang="ru-RU" sz="2800" dirty="0" smtClean="0">
                  <a:latin typeface="DM Serif Display" panose="020B0604020202020204" charset="0"/>
                </a:rPr>
                <a:t>1</a:t>
              </a:r>
              <a:r>
                <a:rPr lang="ru-RU" sz="2800" dirty="0">
                  <a:latin typeface="DM Serif Display" panose="020B0604020202020204" charset="0"/>
                </a:rPr>
                <a:t>. Изучить предметную область менеджеров паролей.</a:t>
              </a:r>
            </a:p>
            <a:p>
              <a:pPr marL="259081" lvl="1">
                <a:lnSpc>
                  <a:spcPct val="115000"/>
                </a:lnSpc>
                <a:buClr>
                  <a:srgbClr val="1F1F1F"/>
                </a:buClr>
                <a:buSzPts val="2400"/>
              </a:pPr>
              <a:r>
                <a:rPr lang="ru-RU" sz="2800" dirty="0">
                  <a:latin typeface="DM Serif Display" panose="020B0604020202020204" charset="0"/>
                </a:rPr>
                <a:t>2. Разработать структуру приложения с использованием ООП.</a:t>
              </a:r>
            </a:p>
            <a:p>
              <a:pPr marL="259081" lvl="1">
                <a:lnSpc>
                  <a:spcPct val="115000"/>
                </a:lnSpc>
                <a:buClr>
                  <a:srgbClr val="1F1F1F"/>
                </a:buClr>
                <a:buSzPts val="2400"/>
              </a:pPr>
              <a:r>
                <a:rPr lang="ru-RU" sz="2800" dirty="0">
                  <a:latin typeface="DM Serif Display" panose="020B0604020202020204" charset="0"/>
                </a:rPr>
                <a:t>3. Создать современный графический интерфейс.</a:t>
              </a:r>
            </a:p>
            <a:p>
              <a:pPr marL="259081" lvl="1">
                <a:lnSpc>
                  <a:spcPct val="115000"/>
                </a:lnSpc>
                <a:buClr>
                  <a:srgbClr val="1F1F1F"/>
                </a:buClr>
                <a:buSzPts val="2400"/>
              </a:pPr>
              <a:r>
                <a:rPr lang="ru-RU" sz="2800" dirty="0">
                  <a:latin typeface="DM Serif Display" panose="020B0604020202020204" charset="0"/>
                </a:rPr>
                <a:t>4. Реализовать хранение и поиск паролей.</a:t>
              </a:r>
            </a:p>
            <a:p>
              <a:pPr marL="259081" lvl="1">
                <a:lnSpc>
                  <a:spcPct val="115000"/>
                </a:lnSpc>
                <a:buClr>
                  <a:srgbClr val="1F1F1F"/>
                </a:buClr>
                <a:buSzPts val="2400"/>
              </a:pPr>
              <a:r>
                <a:rPr lang="ru-RU" sz="2800" dirty="0">
                  <a:latin typeface="DM Serif Display" panose="020B0604020202020204" charset="0"/>
                </a:rPr>
                <a:t>5. Реализовать генерацию сложных паролей.</a:t>
              </a:r>
            </a:p>
            <a:p>
              <a:pPr marL="259081" lvl="1">
                <a:lnSpc>
                  <a:spcPct val="115000"/>
                </a:lnSpc>
                <a:buClr>
                  <a:srgbClr val="1F1F1F"/>
                </a:buClr>
                <a:buSzPts val="2400"/>
              </a:pPr>
              <a:r>
                <a:rPr lang="ru-RU" sz="2800" dirty="0">
                  <a:latin typeface="DM Serif Display" panose="020B0604020202020204" charset="0"/>
                </a:rPr>
                <a:t>6. Реализовать функцию скрытия и отображения паролей.</a:t>
              </a:r>
            </a:p>
            <a:p>
              <a:pPr marL="259081" lvl="1">
                <a:lnSpc>
                  <a:spcPct val="115000"/>
                </a:lnSpc>
                <a:buClr>
                  <a:srgbClr val="1F1F1F"/>
                </a:buClr>
                <a:buSzPts val="2400"/>
              </a:pPr>
              <a:r>
                <a:rPr lang="ru-RU" sz="2800" dirty="0">
                  <a:latin typeface="DM Serif Display" panose="020B0604020202020204" charset="0"/>
                </a:rPr>
                <a:t>7. Проверить корректность работы приложения.</a:t>
              </a:r>
            </a:p>
            <a:p>
              <a:pPr marL="259081" lvl="1">
                <a:lnSpc>
                  <a:spcPct val="115000"/>
                </a:lnSpc>
                <a:buClr>
                  <a:srgbClr val="1F1F1F"/>
                </a:buClr>
                <a:buSzPts val="2400"/>
              </a:pPr>
              <a:r>
                <a:rPr lang="ru-RU" sz="2800" dirty="0">
                  <a:latin typeface="DM Serif Display" panose="020B0604020202020204" charset="0"/>
                </a:rPr>
                <a:t>8. Подготовить документацию и презентацию проекта.</a:t>
              </a:r>
              <a:endParaRPr sz="2800" dirty="0">
                <a:latin typeface="DM Serif Display" panose="020B0604020202020204" charset="0"/>
              </a:endParaRPr>
            </a:p>
          </p:txBody>
        </p:sp>
      </p:grp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57200" y="457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09600" y="6096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62000" y="7620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7162800" y="2585720"/>
            <a:ext cx="0" cy="4368800"/>
          </a:xfrm>
          <a:prstGeom prst="line">
            <a:avLst/>
          </a:prstGeom>
          <a:ln w="57150">
            <a:solidFill>
              <a:srgbClr val="FA6B8C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512618" y="2585720"/>
            <a:ext cx="0" cy="5879407"/>
          </a:xfrm>
          <a:prstGeom prst="line">
            <a:avLst/>
          </a:prstGeom>
          <a:ln w="57150">
            <a:solidFill>
              <a:srgbClr val="FA6B8C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531725" y="244075"/>
            <a:ext cx="16361325" cy="163613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/>
        </p:nvSpPr>
        <p:spPr>
          <a:xfrm>
            <a:off x="1028699" y="1200150"/>
            <a:ext cx="8144329" cy="108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799" b="0" i="0" u="none" strike="noStrike" cap="none" dirty="0" smtClean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Актуальность</a:t>
            </a:r>
            <a:endParaRPr dirty="0"/>
          </a:p>
        </p:txBody>
      </p:sp>
      <p:sp>
        <p:nvSpPr>
          <p:cNvPr id="73" name="Google Shape;73;p9"/>
          <p:cNvSpPr txBox="1"/>
          <p:nvPr/>
        </p:nvSpPr>
        <p:spPr>
          <a:xfrm>
            <a:off x="1028699" y="3239470"/>
            <a:ext cx="15666720" cy="396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9081" lvl="1">
              <a:lnSpc>
                <a:spcPct val="115000"/>
              </a:lnSpc>
              <a:buClr>
                <a:srgbClr val="1F1F1F"/>
              </a:buClr>
              <a:buSzPts val="2400"/>
            </a:pPr>
            <a:r>
              <a:rPr lang="ru-RU" sz="2800" dirty="0" smtClean="0">
                <a:latin typeface="DM Serif Display" panose="020B0604020202020204" charset="0"/>
              </a:rPr>
              <a:t>В </a:t>
            </a:r>
            <a:r>
              <a:rPr lang="ru-RU" sz="2800" dirty="0">
                <a:latin typeface="DM Serif Display" panose="020B0604020202020204" charset="0"/>
              </a:rPr>
              <a:t>современном мире пользователи ежедневно используют большое количество сайтов, приложений и онлайн-сервисов, требующих авторизации. Использование одинаковых или простых паролей значительно снижает уровень безопасности аккаунтов и повышает риск утечки личных данных.</a:t>
            </a:r>
          </a:p>
          <a:p>
            <a:pPr marL="259081" lvl="1">
              <a:lnSpc>
                <a:spcPct val="115000"/>
              </a:lnSpc>
              <a:buClr>
                <a:srgbClr val="1F1F1F"/>
              </a:buClr>
              <a:buSzPts val="2400"/>
            </a:pPr>
            <a:endParaRPr lang="ru-RU" sz="2800" dirty="0">
              <a:latin typeface="DM Serif Display" panose="020B0604020202020204" charset="0"/>
            </a:endParaRPr>
          </a:p>
          <a:p>
            <a:pPr marL="259081" lvl="1">
              <a:lnSpc>
                <a:spcPct val="115000"/>
              </a:lnSpc>
              <a:buClr>
                <a:srgbClr val="1F1F1F"/>
              </a:buClr>
              <a:buSzPts val="2400"/>
            </a:pPr>
            <a:r>
              <a:rPr lang="ru-RU" sz="2800" dirty="0">
                <a:latin typeface="DM Serif Display" panose="020B0604020202020204" charset="0"/>
              </a:rPr>
              <a:t>Менеджеры паролей позволяют безопасно хранить данные для входа, быстро находить нужные аккаунты и создавать сложные пароли, обеспечивая более высокий уровень защиты информации</a:t>
            </a:r>
            <a:r>
              <a:rPr lang="ru-RU" sz="2800" dirty="0" smtClean="0">
                <a:latin typeface="DM Serif Display" panose="020B0604020202020204" charset="0"/>
              </a:rPr>
              <a:t>.</a:t>
            </a:r>
            <a:endParaRPr lang="ru-RU" sz="2800" dirty="0">
              <a:latin typeface="DM Serif Display" panose="020B060402020202020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153103" y="-1183176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/>
          <p:nvPr/>
        </p:nvSpPr>
        <p:spPr>
          <a:xfrm>
            <a:off x="492472" y="2914009"/>
            <a:ext cx="12976784" cy="5096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32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Менеджер паролей — это специальное приложение для хранения, управления и защиты пользовательских паролей. Такие программы помогают безопасно хранить данные от аккаунтов и быстро получать к ним доступ.</a:t>
            </a:r>
          </a:p>
          <a:p>
            <a:pPr lvl="0">
              <a:lnSpc>
                <a:spcPct val="115000"/>
              </a:lnSpc>
            </a:pPr>
            <a:endParaRPr lang="ru-RU" sz="3200" dirty="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15000"/>
              </a:lnSpc>
            </a:pPr>
            <a:r>
              <a:rPr lang="ru-RU" sz="3200" dirty="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Основная задача менеджера паролей — избавить пользователя от необходимости запоминать большое количество сложных паролей. Вместо этого пользователь запоминает только один главный пароль, а остальные данные хранятся внутри программы.</a:t>
            </a:r>
            <a:endParaRPr sz="1800" dirty="0"/>
          </a:p>
        </p:txBody>
      </p:sp>
      <p:sp>
        <p:nvSpPr>
          <p:cNvPr id="50" name="Google Shape;50;p7"/>
          <p:cNvSpPr txBox="1"/>
          <p:nvPr/>
        </p:nvSpPr>
        <p:spPr>
          <a:xfrm>
            <a:off x="800462" y="274486"/>
            <a:ext cx="16863423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0" i="0" u="none" strike="noStrike" cap="none" dirty="0" smtClean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Что такое менеджер паролей</a:t>
            </a:r>
            <a:r>
              <a:rPr lang="ru-RU" sz="9600" dirty="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?</a:t>
            </a:r>
            <a:endParaRPr sz="1200" dirty="0">
              <a:latin typeface="DM Sans" panose="020B060402020202020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0866" y="166336"/>
            <a:ext cx="1313156" cy="1229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4024" y="-8251490"/>
            <a:ext cx="12639951" cy="1263995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/>
          <p:nvPr/>
        </p:nvSpPr>
        <p:spPr>
          <a:xfrm>
            <a:off x="3285257" y="244123"/>
            <a:ext cx="11717483" cy="10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799" b="0" i="0" u="none" strike="noStrike" cap="none" dirty="0" smtClean="0">
                <a:solidFill>
                  <a:srgbClr val="1F1F1F"/>
                </a:solidFill>
                <a:latin typeface="DM Serif Display" panose="020B0604020202020204" charset="0"/>
                <a:ea typeface="DM Serif Display"/>
                <a:cs typeface="DM Serif Display"/>
                <a:sym typeface="DM Serif Display"/>
              </a:rPr>
              <a:t>Основной функционал</a:t>
            </a:r>
            <a:endParaRPr dirty="0">
              <a:latin typeface="DM Serif Display" panose="020B060402020202020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1773382" y="2794150"/>
            <a:ext cx="3640869" cy="1731818"/>
            <a:chOff x="1637713" y="3214255"/>
            <a:chExt cx="3640869" cy="2484168"/>
          </a:xfrm>
          <a:solidFill>
            <a:srgbClr val="FA6B8C"/>
          </a:solidFill>
        </p:grpSpPr>
        <p:sp>
          <p:nvSpPr>
            <p:cNvPr id="2" name="Скругленный прямоугольник 1"/>
            <p:cNvSpPr/>
            <p:nvPr/>
          </p:nvSpPr>
          <p:spPr>
            <a:xfrm>
              <a:off x="1637713" y="3214255"/>
              <a:ext cx="3640869" cy="2484168"/>
            </a:xfrm>
            <a:prstGeom prst="roundRect">
              <a:avLst/>
            </a:prstGeom>
            <a:grpFill/>
            <a:ln>
              <a:solidFill>
                <a:srgbClr val="EEE8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022764" y="3671454"/>
              <a:ext cx="2923309" cy="136859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dirty="0" smtClean="0">
                  <a:latin typeface="DM Serif Display" panose="020B0604020202020204" charset="0"/>
                </a:rPr>
                <a:t>Добавление новых записей</a:t>
              </a:r>
              <a:endParaRPr lang="ru-RU" sz="2800" dirty="0">
                <a:latin typeface="DM Serif Display" panose="020B0604020202020204" charset="0"/>
              </a:endParaRPr>
            </a:p>
          </p:txBody>
        </p:sp>
      </p:grpSp>
      <p:grpSp>
        <p:nvGrpSpPr>
          <p:cNvPr id="17" name="Группа 16"/>
          <p:cNvGrpSpPr/>
          <p:nvPr/>
        </p:nvGrpSpPr>
        <p:grpSpPr>
          <a:xfrm>
            <a:off x="7323565" y="2794150"/>
            <a:ext cx="3640869" cy="1731818"/>
            <a:chOff x="1637713" y="3214255"/>
            <a:chExt cx="3640869" cy="2484168"/>
          </a:xfrm>
          <a:solidFill>
            <a:srgbClr val="FA6B8C"/>
          </a:solidFill>
        </p:grpSpPr>
        <p:sp>
          <p:nvSpPr>
            <p:cNvPr id="18" name="Скругленный прямоугольник 17"/>
            <p:cNvSpPr/>
            <p:nvPr/>
          </p:nvSpPr>
          <p:spPr>
            <a:xfrm>
              <a:off x="1637713" y="3214255"/>
              <a:ext cx="3640869" cy="2484168"/>
            </a:xfrm>
            <a:prstGeom prst="roundRect">
              <a:avLst/>
            </a:prstGeom>
            <a:grpFill/>
            <a:ln>
              <a:solidFill>
                <a:srgbClr val="EEE8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022764" y="3671454"/>
              <a:ext cx="2923309" cy="136859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dirty="0" smtClean="0">
                  <a:latin typeface="DM Serif Display" panose="020B0604020202020204" charset="0"/>
                </a:rPr>
                <a:t>Генерация паролей</a:t>
              </a:r>
              <a:endParaRPr lang="ru-RU" sz="2800" dirty="0">
                <a:latin typeface="DM Serif Display" panose="020B0604020202020204" charset="0"/>
              </a:endParaRPr>
            </a:p>
          </p:txBody>
        </p:sp>
      </p:grpSp>
      <p:grpSp>
        <p:nvGrpSpPr>
          <p:cNvPr id="20" name="Группа 19"/>
          <p:cNvGrpSpPr/>
          <p:nvPr/>
        </p:nvGrpSpPr>
        <p:grpSpPr>
          <a:xfrm>
            <a:off x="12873748" y="2794150"/>
            <a:ext cx="3640869" cy="1731818"/>
            <a:chOff x="1637713" y="3214255"/>
            <a:chExt cx="3640869" cy="2484168"/>
          </a:xfrm>
          <a:solidFill>
            <a:srgbClr val="FA6B8C"/>
          </a:solidFill>
        </p:grpSpPr>
        <p:sp>
          <p:nvSpPr>
            <p:cNvPr id="21" name="Скругленный прямоугольник 20"/>
            <p:cNvSpPr/>
            <p:nvPr/>
          </p:nvSpPr>
          <p:spPr>
            <a:xfrm>
              <a:off x="1637713" y="3214255"/>
              <a:ext cx="3640869" cy="2484168"/>
            </a:xfrm>
            <a:prstGeom prst="roundRect">
              <a:avLst/>
            </a:prstGeom>
            <a:grpFill/>
            <a:ln>
              <a:solidFill>
                <a:srgbClr val="EEE8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022764" y="3671454"/>
              <a:ext cx="2923309" cy="19866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dirty="0" smtClean="0">
                  <a:latin typeface="DM Serif Display" panose="020B0604020202020204" charset="0"/>
                </a:rPr>
                <a:t>Поиск сохраненных данных</a:t>
              </a:r>
              <a:endParaRPr lang="ru-RU" sz="2800" dirty="0">
                <a:latin typeface="DM Serif Display" panose="020B0604020202020204" charset="0"/>
              </a:endParaRPr>
            </a:p>
          </p:txBody>
        </p:sp>
      </p:grpSp>
      <p:grpSp>
        <p:nvGrpSpPr>
          <p:cNvPr id="23" name="Группа 22"/>
          <p:cNvGrpSpPr/>
          <p:nvPr/>
        </p:nvGrpSpPr>
        <p:grpSpPr>
          <a:xfrm>
            <a:off x="4481390" y="5605427"/>
            <a:ext cx="3640869" cy="1731818"/>
            <a:chOff x="1637713" y="3214255"/>
            <a:chExt cx="3640869" cy="2484168"/>
          </a:xfrm>
          <a:solidFill>
            <a:srgbClr val="FA6B8C"/>
          </a:solidFill>
        </p:grpSpPr>
        <p:sp>
          <p:nvSpPr>
            <p:cNvPr id="24" name="Скругленный прямоугольник 23"/>
            <p:cNvSpPr/>
            <p:nvPr/>
          </p:nvSpPr>
          <p:spPr>
            <a:xfrm>
              <a:off x="1637713" y="3214255"/>
              <a:ext cx="3640869" cy="2484168"/>
            </a:xfrm>
            <a:prstGeom prst="roundRect">
              <a:avLst/>
            </a:prstGeom>
            <a:grpFill/>
            <a:ln>
              <a:solidFill>
                <a:srgbClr val="EEE8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022764" y="3671454"/>
              <a:ext cx="2923309" cy="19866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dirty="0" smtClean="0">
                  <a:latin typeface="DM Serif Display" panose="020B0604020202020204" charset="0"/>
                </a:rPr>
                <a:t>Скрытие и отображение пароля</a:t>
              </a:r>
              <a:endParaRPr lang="ru-RU" sz="2800" dirty="0">
                <a:latin typeface="DM Serif Display" panose="020B0604020202020204" charset="0"/>
              </a:endParaRPr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10217171" y="5605427"/>
            <a:ext cx="3640869" cy="1731818"/>
            <a:chOff x="1637713" y="3214255"/>
            <a:chExt cx="3640869" cy="2484168"/>
          </a:xfrm>
          <a:solidFill>
            <a:srgbClr val="FA6B8C"/>
          </a:solidFill>
        </p:grpSpPr>
        <p:sp>
          <p:nvSpPr>
            <p:cNvPr id="27" name="Скругленный прямоугольник 26"/>
            <p:cNvSpPr/>
            <p:nvPr/>
          </p:nvSpPr>
          <p:spPr>
            <a:xfrm>
              <a:off x="1637713" y="3214255"/>
              <a:ext cx="3640869" cy="2484168"/>
            </a:xfrm>
            <a:prstGeom prst="roundRect">
              <a:avLst/>
            </a:prstGeom>
            <a:grpFill/>
            <a:ln>
              <a:solidFill>
                <a:srgbClr val="EEE8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022764" y="3671454"/>
              <a:ext cx="2923309" cy="136859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dirty="0" smtClean="0">
                  <a:latin typeface="DM Serif Display" panose="020B0604020202020204" charset="0"/>
                </a:rPr>
                <a:t>Отображение списка паролей</a:t>
              </a:r>
              <a:endParaRPr lang="ru-RU" sz="2800" dirty="0">
                <a:latin typeface="DM Serif Display" panose="020B0604020202020204" charset="0"/>
              </a:endParaRPr>
            </a:p>
          </p:txBody>
        </p:sp>
      </p:grpSp>
      <p:pic>
        <p:nvPicPr>
          <p:cNvPr id="29" name="Google Shape;8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670" y="803802"/>
            <a:ext cx="951712" cy="910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51521" y="1580530"/>
            <a:ext cx="4984950" cy="111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atin typeface="DM Serif Display" panose="020B0604020202020204" charset="0"/>
              </a:rPr>
              <a:t>Язык программирования</a:t>
            </a:r>
            <a:r>
              <a:rPr lang="en-US" sz="3200" dirty="0" smtClean="0">
                <a:latin typeface="DM Serif Display" panose="020B0604020202020204" charset="0"/>
              </a:rPr>
              <a:t>:</a:t>
            </a:r>
          </a:p>
          <a:p>
            <a:r>
              <a:rPr lang="en-US" sz="3200" dirty="0" smtClean="0">
                <a:latin typeface="DM Serif Display" panose="020B0604020202020204" charset="0"/>
              </a:rPr>
              <a:t>Python</a:t>
            </a:r>
            <a:endParaRPr lang="ru-RU" sz="3200" dirty="0">
              <a:latin typeface="DM Serif Display" panose="020B0604020202020204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7244859" y="3386308"/>
            <a:ext cx="3798276" cy="3774830"/>
          </a:xfrm>
          <a:prstGeom prst="ellipse">
            <a:avLst/>
          </a:prstGeom>
          <a:solidFill>
            <a:srgbClr val="FA6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Google Shape;98;p11"/>
          <p:cNvSpPr txBox="1"/>
          <p:nvPr/>
        </p:nvSpPr>
        <p:spPr>
          <a:xfrm>
            <a:off x="7464407" y="4633547"/>
            <a:ext cx="3359179" cy="128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400" b="0" i="0" u="none" strike="noStrike" cap="none" dirty="0" smtClean="0">
                <a:solidFill>
                  <a:schemeClr val="bg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Стек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5687301" y="1580530"/>
            <a:ext cx="964220" cy="933008"/>
          </a:xfrm>
          <a:prstGeom prst="ellipse">
            <a:avLst/>
          </a:prstGeom>
          <a:solidFill>
            <a:srgbClr val="FA6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263130" y="3608705"/>
            <a:ext cx="562205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1"/>
                </a:solidFill>
                <a:latin typeface="DM Serif Display" panose="020B0604020202020204" charset="0"/>
              </a:rPr>
              <a:t>Библиотека для интерфейса</a:t>
            </a:r>
            <a:r>
              <a:rPr lang="en-US" sz="3200" dirty="0" smtClean="0">
                <a:solidFill>
                  <a:schemeClr val="tx1"/>
                </a:solidFill>
                <a:latin typeface="DM Serif Display" panose="020B0604020202020204" charset="0"/>
              </a:rPr>
              <a:t>:</a:t>
            </a:r>
          </a:p>
          <a:p>
            <a:r>
              <a:rPr lang="en-US" sz="3200" dirty="0" err="1" smtClean="0">
                <a:solidFill>
                  <a:schemeClr val="tx1"/>
                </a:solidFill>
                <a:latin typeface="DM Serif Display" panose="020B0604020202020204" charset="0"/>
              </a:rPr>
              <a:t>CustomTkinter</a:t>
            </a:r>
            <a:endParaRPr lang="ru-RU" sz="3200" dirty="0">
              <a:solidFill>
                <a:schemeClr val="tx1"/>
              </a:solidFill>
              <a:latin typeface="DM Serif Display" panose="020B06040202020202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60372" y="7467000"/>
            <a:ext cx="45248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atin typeface="DM Serif Display" panose="020B0604020202020204" charset="0"/>
              </a:rPr>
              <a:t>Модуль для генерации случайных паролей</a:t>
            </a:r>
            <a:r>
              <a:rPr lang="en-US" sz="3200" dirty="0" smtClean="0">
                <a:latin typeface="DM Serif Display" panose="020B0604020202020204" charset="0"/>
              </a:rPr>
              <a:t>:</a:t>
            </a:r>
          </a:p>
          <a:p>
            <a:r>
              <a:rPr lang="en-US" sz="3200" dirty="0" smtClean="0">
                <a:latin typeface="DM Serif Display" panose="020B0604020202020204" charset="0"/>
              </a:rPr>
              <a:t>Random</a:t>
            </a:r>
            <a:endParaRPr lang="ru-RU" sz="3200" dirty="0">
              <a:latin typeface="DM Serif Display" panose="020B06040202020202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398220" y="7713221"/>
            <a:ext cx="58310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atin typeface="DM Serif Display" panose="020B0604020202020204" charset="0"/>
              </a:rPr>
              <a:t>Модуль для набора символов</a:t>
            </a:r>
            <a:r>
              <a:rPr lang="en-US" sz="3200" dirty="0" smtClean="0">
                <a:latin typeface="DM Serif Display" panose="020B0604020202020204" charset="0"/>
              </a:rPr>
              <a:t>:</a:t>
            </a:r>
          </a:p>
          <a:p>
            <a:r>
              <a:rPr lang="en-US" sz="3200" dirty="0" smtClean="0">
                <a:latin typeface="DM Serif Display" panose="020B0604020202020204" charset="0"/>
              </a:rPr>
              <a:t>String</a:t>
            </a:r>
            <a:endParaRPr lang="ru-RU" sz="3200" dirty="0">
              <a:latin typeface="DM Serif Display" panose="020B06040202020202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132351" y="3556329"/>
            <a:ext cx="50611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atin typeface="DM Serif Display" panose="020B0604020202020204" charset="0"/>
              </a:rPr>
              <a:t>Библиотека для создания </a:t>
            </a:r>
            <a:r>
              <a:rPr lang="en-US" sz="3200" dirty="0" smtClean="0">
                <a:latin typeface="DM Serif Display" panose="020B0604020202020204" charset="0"/>
              </a:rPr>
              <a:t>GUI-</a:t>
            </a:r>
            <a:r>
              <a:rPr lang="ru-RU" sz="3200" dirty="0" smtClean="0">
                <a:latin typeface="DM Serif Display" panose="020B0604020202020204" charset="0"/>
              </a:rPr>
              <a:t>приложений</a:t>
            </a:r>
            <a:endParaRPr lang="ru-RU" sz="3200" dirty="0">
              <a:latin typeface="DM Serif Display" panose="020B0604020202020204" charset="0"/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17193501" y="3608705"/>
            <a:ext cx="964220" cy="933008"/>
          </a:xfrm>
          <a:prstGeom prst="ellipse">
            <a:avLst/>
          </a:prstGeom>
          <a:solidFill>
            <a:srgbClr val="FA6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298910" y="3608705"/>
            <a:ext cx="964220" cy="933008"/>
          </a:xfrm>
          <a:prstGeom prst="ellipse">
            <a:avLst/>
          </a:prstGeom>
          <a:solidFill>
            <a:srgbClr val="FA6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16229281" y="7713221"/>
            <a:ext cx="964220" cy="933008"/>
          </a:xfrm>
          <a:prstGeom prst="ellipse">
            <a:avLst/>
          </a:prstGeom>
          <a:solidFill>
            <a:srgbClr val="FA6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1263130" y="7642489"/>
            <a:ext cx="964220" cy="933008"/>
          </a:xfrm>
          <a:prstGeom prst="ellipse">
            <a:avLst/>
          </a:prstGeom>
          <a:solidFill>
            <a:srgbClr val="FA6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7812" y="6536839"/>
            <a:ext cx="7500351" cy="75003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/>
        </p:nvSpPr>
        <p:spPr>
          <a:xfrm>
            <a:off x="761999" y="220200"/>
            <a:ext cx="13937673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dirty="0" smtClean="0">
                <a:latin typeface="DM Serif Display" panose="020B0604020202020204" charset="0"/>
              </a:rPr>
              <a:t>Сценарий 1.Добавление нового пароля.</a:t>
            </a:r>
            <a:endParaRPr sz="5400" b="1" dirty="0">
              <a:latin typeface="DM Serif Display" panose="020B060402020202020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57200" y="457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09600" y="6096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62000" y="7620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47" y="1476657"/>
            <a:ext cx="9355237" cy="653196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5"/>
          <a:srcRect l="830" t="4018" r="38031"/>
          <a:stretch/>
        </p:blipFill>
        <p:spPr>
          <a:xfrm>
            <a:off x="9753600" y="1476657"/>
            <a:ext cx="7689637" cy="39404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800" y="9180473"/>
            <a:ext cx="13110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DM Serif Display" panose="020B0604020202020204" charset="0"/>
              </a:rPr>
              <a:t>Результат</a:t>
            </a:r>
            <a:r>
              <a:rPr lang="en-US" sz="2800" b="1" dirty="0" smtClean="0">
                <a:latin typeface="DM Serif Display" panose="020B0604020202020204" charset="0"/>
              </a:rPr>
              <a:t>: </a:t>
            </a:r>
            <a:r>
              <a:rPr lang="ru-RU" sz="2800" b="1" dirty="0" smtClean="0">
                <a:latin typeface="DM Serif Display" panose="020B0604020202020204" charset="0"/>
              </a:rPr>
              <a:t>После ввода данных и нажатия кнопки </a:t>
            </a:r>
            <a:r>
              <a:rPr lang="en-US" sz="2800" b="1" dirty="0" smtClean="0">
                <a:latin typeface="DM Serif Display" panose="020B0604020202020204" charset="0"/>
              </a:rPr>
              <a:t>“</a:t>
            </a:r>
            <a:r>
              <a:rPr lang="ru-RU" sz="2800" b="1" dirty="0" smtClean="0">
                <a:latin typeface="DM Serif Display" panose="020B0604020202020204" charset="0"/>
              </a:rPr>
              <a:t>Добавить</a:t>
            </a:r>
            <a:r>
              <a:rPr lang="en-US" sz="2800" b="1" dirty="0" smtClean="0">
                <a:latin typeface="DM Serif Display" panose="020B0604020202020204" charset="0"/>
              </a:rPr>
              <a:t>”</a:t>
            </a:r>
            <a:r>
              <a:rPr lang="ru-RU" sz="2800" b="1" dirty="0">
                <a:latin typeface="DM Serif Display" panose="020B0604020202020204" charset="0"/>
              </a:rPr>
              <a:t> </a:t>
            </a:r>
            <a:r>
              <a:rPr lang="ru-RU" sz="2800" b="1" dirty="0" smtClean="0">
                <a:latin typeface="DM Serif Display" panose="020B0604020202020204" charset="0"/>
              </a:rPr>
              <a:t>пароль успешно добавился. Это можно наблюдать в нижней панели.</a:t>
            </a:r>
            <a:endParaRPr lang="ru-RU" sz="2800" b="1" dirty="0">
              <a:latin typeface="DM Serif Displa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7039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7812" y="6536839"/>
            <a:ext cx="7500351" cy="75003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/>
        </p:nvSpPr>
        <p:spPr>
          <a:xfrm>
            <a:off x="761999" y="220200"/>
            <a:ext cx="13937673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dirty="0" smtClean="0">
                <a:latin typeface="DM Serif Display" panose="020B0604020202020204" charset="0"/>
              </a:rPr>
              <a:t>Сценарий 2.Генерация пароля.</a:t>
            </a:r>
            <a:endParaRPr sz="5400" b="1" dirty="0">
              <a:latin typeface="DM Serif Display" panose="020B060402020202020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57200" y="457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09600" y="6096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62000" y="7620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577" y="9116290"/>
            <a:ext cx="13110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DM Serif Display" panose="020B0604020202020204" charset="0"/>
              </a:rPr>
              <a:t>Результат</a:t>
            </a:r>
            <a:r>
              <a:rPr lang="en-US" sz="2800" b="1" dirty="0" smtClean="0">
                <a:latin typeface="DM Serif Display" panose="020B0604020202020204" charset="0"/>
              </a:rPr>
              <a:t>: </a:t>
            </a:r>
            <a:r>
              <a:rPr lang="ru-RU" sz="2800" b="1" dirty="0" smtClean="0">
                <a:latin typeface="DM Serif Display" panose="020B0604020202020204" charset="0"/>
              </a:rPr>
              <a:t>После ввода данных и нажатия кнопки </a:t>
            </a:r>
            <a:r>
              <a:rPr lang="en-US" sz="2800" b="1" dirty="0" smtClean="0">
                <a:latin typeface="DM Serif Display" panose="020B0604020202020204" charset="0"/>
              </a:rPr>
              <a:t>“</a:t>
            </a:r>
            <a:r>
              <a:rPr lang="ru-RU" sz="2800" b="1" dirty="0" smtClean="0">
                <a:latin typeface="DM Serif Display" panose="020B0604020202020204" charset="0"/>
              </a:rPr>
              <a:t>Сгенерировать</a:t>
            </a:r>
            <a:r>
              <a:rPr lang="en-US" sz="2800" b="1" dirty="0" smtClean="0">
                <a:latin typeface="DM Serif Display" panose="020B0604020202020204" charset="0"/>
              </a:rPr>
              <a:t>”</a:t>
            </a:r>
            <a:r>
              <a:rPr lang="ru-RU" sz="2800" b="1" dirty="0" smtClean="0">
                <a:latin typeface="DM Serif Display" panose="020B0604020202020204" charset="0"/>
              </a:rPr>
              <a:t> пароль успешно генерируется.</a:t>
            </a:r>
            <a:endParaRPr lang="ru-RU" sz="2800" b="1" dirty="0">
              <a:latin typeface="DM Serif Display" panose="020B060402020202020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77" y="892056"/>
            <a:ext cx="10650436" cy="417253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577" y="5251229"/>
            <a:ext cx="10650436" cy="341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9921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7812" y="6536839"/>
            <a:ext cx="7500351" cy="75003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/>
        </p:nvSpPr>
        <p:spPr>
          <a:xfrm>
            <a:off x="761999" y="220200"/>
            <a:ext cx="15974292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dirty="0" smtClean="0">
                <a:latin typeface="DM Serif Display" panose="020B0604020202020204" charset="0"/>
              </a:rPr>
              <a:t>Сценарий 3.Скрытие и отображение пароля.</a:t>
            </a:r>
            <a:endParaRPr sz="5400" b="1" dirty="0">
              <a:latin typeface="DM Serif Display" panose="020B060402020202020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57200" y="457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09600" y="6096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62000" y="7620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9054211"/>
            <a:ext cx="149906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DM Serif Display" panose="020B0604020202020204" charset="0"/>
              </a:rPr>
              <a:t>Результат</a:t>
            </a:r>
            <a:r>
              <a:rPr lang="en-US" sz="2800" b="1" dirty="0" smtClean="0">
                <a:latin typeface="DM Serif Display" panose="020B0604020202020204" charset="0"/>
              </a:rPr>
              <a:t>: </a:t>
            </a:r>
            <a:r>
              <a:rPr lang="ru-RU" sz="2800" b="1" dirty="0" smtClean="0">
                <a:latin typeface="DM Serif Display" panose="020B0604020202020204" charset="0"/>
              </a:rPr>
              <a:t>После ввода данных и нажатия кнопки </a:t>
            </a:r>
            <a:r>
              <a:rPr lang="en-US" sz="2800" b="1" dirty="0" smtClean="0">
                <a:latin typeface="DM Serif Display" panose="020B0604020202020204" charset="0"/>
              </a:rPr>
              <a:t>“</a:t>
            </a:r>
            <a:r>
              <a:rPr lang="ru-RU" sz="2800" b="1" dirty="0" smtClean="0">
                <a:latin typeface="DM Serif Display" panose="020B0604020202020204" charset="0"/>
              </a:rPr>
              <a:t>Скрыть пароль</a:t>
            </a:r>
            <a:r>
              <a:rPr lang="en-US" sz="2800" b="1" dirty="0" smtClean="0">
                <a:latin typeface="DM Serif Display" panose="020B0604020202020204" charset="0"/>
              </a:rPr>
              <a:t>”</a:t>
            </a:r>
            <a:r>
              <a:rPr lang="ru-RU" sz="2800" b="1" dirty="0" smtClean="0">
                <a:latin typeface="DM Serif Display" panose="020B0604020202020204" charset="0"/>
              </a:rPr>
              <a:t> пароль успешно скрывается, а после нажатия кнопки </a:t>
            </a:r>
            <a:r>
              <a:rPr lang="en-US" sz="2800" b="1" dirty="0" smtClean="0">
                <a:latin typeface="DM Serif Display" panose="020B0604020202020204" charset="0"/>
              </a:rPr>
              <a:t>“</a:t>
            </a:r>
            <a:r>
              <a:rPr lang="ru-RU" sz="2800" b="1" dirty="0" smtClean="0">
                <a:latin typeface="DM Serif Display" panose="020B0604020202020204" charset="0"/>
              </a:rPr>
              <a:t>Показать пароль</a:t>
            </a:r>
            <a:r>
              <a:rPr lang="en-US" sz="2800" b="1" dirty="0" smtClean="0">
                <a:latin typeface="DM Serif Display" panose="020B0604020202020204" charset="0"/>
              </a:rPr>
              <a:t>”</a:t>
            </a:r>
            <a:r>
              <a:rPr lang="ru-RU" sz="2800" b="1" dirty="0" smtClean="0">
                <a:latin typeface="DM Serif Display" panose="020B0604020202020204" charset="0"/>
              </a:rPr>
              <a:t> пароль показывается</a:t>
            </a:r>
            <a:endParaRPr lang="ru-RU" sz="2800" b="1" dirty="0">
              <a:latin typeface="DM Serif Display" panose="020B060402020202020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335565"/>
            <a:ext cx="10593278" cy="365811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683" y="5244568"/>
            <a:ext cx="10498015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5324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7812" y="6536839"/>
            <a:ext cx="7500351" cy="75003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/>
        </p:nvSpPr>
        <p:spPr>
          <a:xfrm>
            <a:off x="761999" y="220200"/>
            <a:ext cx="15309274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dirty="0" smtClean="0">
                <a:latin typeface="DM Serif Display" panose="020B0604020202020204" charset="0"/>
              </a:rPr>
              <a:t>Сценарий 4.Поиск сохраненного аккаунта.</a:t>
            </a:r>
            <a:endParaRPr sz="5400" b="1" dirty="0">
              <a:latin typeface="DM Serif Display" panose="020B060402020202020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57200" y="457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09600" y="6096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62000" y="7620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577" y="9116290"/>
            <a:ext cx="13110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DM Serif Display" panose="020B0604020202020204" charset="0"/>
              </a:rPr>
              <a:t>Результат</a:t>
            </a:r>
            <a:r>
              <a:rPr lang="en-US" sz="2800" b="1" dirty="0" smtClean="0">
                <a:latin typeface="DM Serif Display" panose="020B0604020202020204" charset="0"/>
              </a:rPr>
              <a:t>: </a:t>
            </a:r>
            <a:r>
              <a:rPr lang="ru-RU" sz="2800" b="1" dirty="0" smtClean="0">
                <a:latin typeface="DM Serif Display" panose="020B0604020202020204" charset="0"/>
              </a:rPr>
              <a:t>По</a:t>
            </a:r>
            <a:r>
              <a:rPr lang="en-US" sz="2800" b="1" dirty="0" smtClean="0">
                <a:latin typeface="DM Serif Display" panose="020B0604020202020204" charset="0"/>
              </a:rPr>
              <a:t>c</a:t>
            </a:r>
            <a:r>
              <a:rPr lang="ru-RU" sz="2800" b="1" dirty="0" err="1" smtClean="0">
                <a:latin typeface="DM Serif Display" panose="020B0604020202020204" charset="0"/>
              </a:rPr>
              <a:t>ле</a:t>
            </a:r>
            <a:r>
              <a:rPr lang="ru-RU" sz="2800" b="1" dirty="0" smtClean="0">
                <a:latin typeface="DM Serif Display" panose="020B0604020202020204" charset="0"/>
              </a:rPr>
              <a:t> ввода сайта </a:t>
            </a:r>
            <a:r>
              <a:rPr lang="en-US" sz="2800" b="1" dirty="0" smtClean="0">
                <a:latin typeface="DM Serif Display" panose="020B0604020202020204" charset="0"/>
              </a:rPr>
              <a:t>asu.ru.</a:t>
            </a:r>
            <a:r>
              <a:rPr lang="ru-RU" sz="2800" b="1" dirty="0" smtClean="0">
                <a:latin typeface="DM Serif Display" panose="020B0604020202020204" charset="0"/>
              </a:rPr>
              <a:t>Остались аккаунты только с таким названием сайта.</a:t>
            </a:r>
            <a:endParaRPr lang="ru-RU" sz="2800" b="1" dirty="0">
              <a:latin typeface="DM Serif Display" panose="020B060402020202020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305567"/>
            <a:ext cx="10640910" cy="753532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5"/>
          <a:srcRect l="-132" t="-304" r="39918" b="304"/>
          <a:stretch/>
        </p:blipFill>
        <p:spPr>
          <a:xfrm>
            <a:off x="11248673" y="1305567"/>
            <a:ext cx="6332745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9253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69859" y="10587644"/>
            <a:ext cx="7500351" cy="75003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/>
        </p:nvSpPr>
        <p:spPr>
          <a:xfrm>
            <a:off x="761999" y="220200"/>
            <a:ext cx="15309274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dirty="0" smtClean="0">
                <a:latin typeface="DM Serif Display" panose="020B0604020202020204" charset="0"/>
              </a:rPr>
              <a:t>Сценарий 5.Очистка полей ввода. </a:t>
            </a:r>
            <a:endParaRPr sz="5400" b="1" dirty="0">
              <a:latin typeface="DM Serif Display" panose="020B060402020202020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57200" y="457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09600" y="6096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62000" y="7620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577" y="9116290"/>
            <a:ext cx="13110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DM Serif Display" panose="020B0604020202020204" charset="0"/>
              </a:rPr>
              <a:t>Результат</a:t>
            </a:r>
            <a:r>
              <a:rPr lang="en-US" sz="2800" b="1" dirty="0" smtClean="0">
                <a:latin typeface="DM Serif Display" panose="020B0604020202020204" charset="0"/>
              </a:rPr>
              <a:t>: </a:t>
            </a:r>
            <a:r>
              <a:rPr lang="ru-RU" sz="2800" b="1" dirty="0" smtClean="0">
                <a:latin typeface="DM Serif Display" panose="020B0604020202020204" charset="0"/>
              </a:rPr>
              <a:t>После нажатия кнопки </a:t>
            </a:r>
            <a:r>
              <a:rPr lang="en-US" sz="2800" b="1" dirty="0" smtClean="0">
                <a:latin typeface="DM Serif Display" panose="020B0604020202020204" charset="0"/>
              </a:rPr>
              <a:t>“</a:t>
            </a:r>
            <a:r>
              <a:rPr lang="ru-RU" sz="2800" b="1" dirty="0" smtClean="0">
                <a:latin typeface="DM Serif Display" panose="020B0604020202020204" charset="0"/>
              </a:rPr>
              <a:t>Очистить</a:t>
            </a:r>
            <a:r>
              <a:rPr lang="en-US" sz="2800" b="1" dirty="0" smtClean="0">
                <a:latin typeface="DM Serif Display" panose="020B0604020202020204" charset="0"/>
              </a:rPr>
              <a:t>”</a:t>
            </a:r>
            <a:r>
              <a:rPr lang="ru-RU" sz="2800" b="1" dirty="0" smtClean="0">
                <a:latin typeface="DM Serif Display" panose="020B0604020202020204" charset="0"/>
              </a:rPr>
              <a:t> все данные стерлись и их можно ввести заново.</a:t>
            </a:r>
            <a:endParaRPr lang="ru-RU" sz="2800" b="1" dirty="0">
              <a:latin typeface="DM Serif Display" panose="020B060402020202020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86" y="1204345"/>
            <a:ext cx="10593278" cy="253400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172" y="3923713"/>
            <a:ext cx="10507541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1166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3926" y="6536839"/>
            <a:ext cx="7500351" cy="75003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/>
        </p:nvSpPr>
        <p:spPr>
          <a:xfrm>
            <a:off x="761999" y="220200"/>
            <a:ext cx="13937673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dirty="0" smtClean="0">
                <a:latin typeface="DM Serif Display" panose="020B0604020202020204" charset="0"/>
              </a:rPr>
              <a:t>Сценарий </a:t>
            </a:r>
            <a:r>
              <a:rPr lang="en-US" sz="5400" b="1" dirty="0" smtClean="0">
                <a:latin typeface="DM Serif Display" panose="020B0604020202020204" charset="0"/>
              </a:rPr>
              <a:t>6</a:t>
            </a:r>
            <a:r>
              <a:rPr lang="ru-RU" sz="5400" b="1" dirty="0" smtClean="0">
                <a:latin typeface="DM Serif Display" panose="020B0604020202020204" charset="0"/>
              </a:rPr>
              <a:t>.Просмотр пароля</a:t>
            </a:r>
            <a:endParaRPr sz="5400" b="1" dirty="0">
              <a:latin typeface="DM Serif Display" panose="020B060402020202020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57200" y="457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09600" y="6096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62000" y="7620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9180473"/>
            <a:ext cx="13110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DM Serif Display" panose="020B0604020202020204" charset="0"/>
              </a:rPr>
              <a:t>Результат</a:t>
            </a:r>
            <a:r>
              <a:rPr lang="en-US" sz="2800" b="1" dirty="0" smtClean="0">
                <a:latin typeface="DM Serif Display" panose="020B0604020202020204" charset="0"/>
              </a:rPr>
              <a:t>: </a:t>
            </a:r>
            <a:r>
              <a:rPr lang="ru-RU" sz="2800" b="1" dirty="0" smtClean="0">
                <a:latin typeface="DM Serif Display" panose="020B0604020202020204" charset="0"/>
              </a:rPr>
              <a:t>После нажатия кнопки </a:t>
            </a:r>
            <a:r>
              <a:rPr lang="en-US" sz="2800" b="1" dirty="0" smtClean="0">
                <a:latin typeface="DM Serif Display" panose="020B0604020202020204" charset="0"/>
              </a:rPr>
              <a:t>“</a:t>
            </a:r>
            <a:r>
              <a:rPr lang="ru-RU" sz="2800" b="1" dirty="0" smtClean="0">
                <a:latin typeface="DM Serif Display" panose="020B0604020202020204" charset="0"/>
              </a:rPr>
              <a:t>Скрыть</a:t>
            </a:r>
            <a:r>
              <a:rPr lang="en-US" sz="2800" b="1" dirty="0" smtClean="0">
                <a:latin typeface="DM Serif Display" panose="020B0604020202020204" charset="0"/>
              </a:rPr>
              <a:t>”</a:t>
            </a:r>
            <a:r>
              <a:rPr lang="ru-RU" sz="2800" b="1" dirty="0" smtClean="0">
                <a:latin typeface="DM Serif Display" panose="020B0604020202020204" charset="0"/>
              </a:rPr>
              <a:t> пароль, который находится в списке паролей скрывает, а при нажатии кнопки</a:t>
            </a:r>
            <a:r>
              <a:rPr lang="en-US" sz="2800" b="1" dirty="0" smtClean="0">
                <a:latin typeface="DM Serif Display" panose="020B0604020202020204" charset="0"/>
              </a:rPr>
              <a:t> “</a:t>
            </a:r>
            <a:r>
              <a:rPr lang="ru-RU" sz="2800" b="1" dirty="0" smtClean="0">
                <a:latin typeface="DM Serif Display" panose="020B0604020202020204" charset="0"/>
              </a:rPr>
              <a:t>Показать</a:t>
            </a:r>
            <a:r>
              <a:rPr lang="en-US" sz="2800" b="1" dirty="0" smtClean="0">
                <a:latin typeface="DM Serif Display" panose="020B0604020202020204" charset="0"/>
              </a:rPr>
              <a:t>” </a:t>
            </a:r>
            <a:r>
              <a:rPr lang="ru-RU" sz="2800" b="1" dirty="0" smtClean="0">
                <a:latin typeface="DM Serif Display" panose="020B0604020202020204" charset="0"/>
              </a:rPr>
              <a:t>показывается </a:t>
            </a:r>
            <a:endParaRPr lang="ru-RU" sz="2800" b="1" dirty="0">
              <a:latin typeface="DM Serif Display" panose="020B060402020202020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948" y="4668475"/>
            <a:ext cx="10478962" cy="308653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33894"/>
            <a:ext cx="10440857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6014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/>
        </p:nvSpPr>
        <p:spPr>
          <a:xfrm>
            <a:off x="2539850" y="465398"/>
            <a:ext cx="13208400" cy="128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400" dirty="0" smtClean="0">
                <a:solidFill>
                  <a:srgbClr val="1F1F1F"/>
                </a:solidFill>
                <a:latin typeface="DM Serif Display" panose="020B0604020202020204" charset="0"/>
                <a:sym typeface="DM Serif Display"/>
              </a:rPr>
              <a:t>Диаграмма классов</a:t>
            </a:r>
            <a:endParaRPr dirty="0">
              <a:latin typeface="DM Serif Display" panose="020B0604020202020204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6212114" y="2046514"/>
            <a:ext cx="5268686" cy="3248446"/>
            <a:chOff x="6212114" y="2046514"/>
            <a:chExt cx="5268686" cy="3248446"/>
          </a:xfrm>
        </p:grpSpPr>
        <p:sp>
          <p:nvSpPr>
            <p:cNvPr id="2" name="Скругленный прямоугольник 1"/>
            <p:cNvSpPr/>
            <p:nvPr/>
          </p:nvSpPr>
          <p:spPr>
            <a:xfrm>
              <a:off x="6212114" y="2046514"/>
              <a:ext cx="5268686" cy="2888343"/>
            </a:xfrm>
            <a:prstGeom prst="roundRect">
              <a:avLst/>
            </a:prstGeom>
            <a:solidFill>
              <a:srgbClr val="FA6B8C"/>
            </a:solidFill>
            <a:ln>
              <a:solidFill>
                <a:srgbClr val="FA6B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640285" y="2186417"/>
              <a:ext cx="4412343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smtClean="0">
                  <a:latin typeface="DM Serif Display" panose="020B0604020202020204" charset="0"/>
                </a:rPr>
                <a:t>App</a:t>
              </a:r>
            </a:p>
            <a:p>
              <a:pPr algn="ctr"/>
              <a:r>
                <a:rPr lang="ru-RU" sz="2800" b="1" dirty="0" smtClean="0">
                  <a:latin typeface="DM Serif Display" panose="020B0604020202020204" charset="0"/>
                </a:rPr>
                <a:t>Создает</a:t>
              </a:r>
              <a:r>
                <a:rPr lang="ru-RU" sz="2800" b="1" dirty="0">
                  <a:latin typeface="DM Serif Display" panose="020B0604020202020204" charset="0"/>
                </a:rPr>
                <a:t>:</a:t>
              </a:r>
            </a:p>
            <a:p>
              <a:pPr algn="ctr"/>
              <a:r>
                <a:rPr lang="ru-RU" sz="2800" b="1" dirty="0">
                  <a:latin typeface="DM Serif Display" panose="020B0604020202020204" charset="0"/>
                </a:rPr>
                <a:t>-окна</a:t>
              </a:r>
            </a:p>
            <a:p>
              <a:pPr algn="ctr"/>
              <a:r>
                <a:rPr lang="ru-RU" sz="2800" b="1" dirty="0">
                  <a:latin typeface="DM Serif Display" panose="020B0604020202020204" charset="0"/>
                </a:rPr>
                <a:t>-кнопки</a:t>
              </a:r>
            </a:p>
            <a:p>
              <a:pPr algn="ctr"/>
              <a:r>
                <a:rPr lang="ru-RU" sz="2800" b="1" dirty="0">
                  <a:latin typeface="DM Serif Display" panose="020B0604020202020204" charset="0"/>
                </a:rPr>
                <a:t>-поля ввода</a:t>
              </a:r>
            </a:p>
            <a:p>
              <a:pPr algn="ctr"/>
              <a:r>
                <a:rPr lang="ru-RU" sz="2800" b="1" dirty="0">
                  <a:latin typeface="DM Serif Display" panose="020B0604020202020204" charset="0"/>
                </a:rPr>
                <a:t>-поиск</a:t>
              </a:r>
            </a:p>
            <a:p>
              <a:pPr algn="ctr"/>
              <a:endParaRPr lang="ru-RU" sz="2800" b="1" dirty="0">
                <a:latin typeface="DM Serif Display" panose="020B0604020202020204" charset="0"/>
              </a:endParaRPr>
            </a:p>
          </p:txBody>
        </p:sp>
      </p:grpSp>
      <p:grpSp>
        <p:nvGrpSpPr>
          <p:cNvPr id="7" name="Группа 6"/>
          <p:cNvGrpSpPr/>
          <p:nvPr/>
        </p:nvGrpSpPr>
        <p:grpSpPr>
          <a:xfrm>
            <a:off x="954621" y="5846853"/>
            <a:ext cx="5268686" cy="3679333"/>
            <a:chOff x="6212114" y="2046514"/>
            <a:chExt cx="5268686" cy="3679333"/>
          </a:xfrm>
        </p:grpSpPr>
        <p:sp>
          <p:nvSpPr>
            <p:cNvPr id="8" name="Скругленный прямоугольник 7"/>
            <p:cNvSpPr/>
            <p:nvPr/>
          </p:nvSpPr>
          <p:spPr>
            <a:xfrm>
              <a:off x="6212114" y="2046514"/>
              <a:ext cx="5268686" cy="3158956"/>
            </a:xfrm>
            <a:prstGeom prst="roundRect">
              <a:avLst/>
            </a:prstGeom>
            <a:solidFill>
              <a:srgbClr val="FA6B8C"/>
            </a:solidFill>
            <a:ln>
              <a:solidFill>
                <a:srgbClr val="FA6B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640285" y="2186417"/>
              <a:ext cx="4412343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err="1" smtClean="0">
                  <a:latin typeface="DM Serif Display" panose="020B0604020202020204" charset="0"/>
                </a:rPr>
                <a:t>PasswordEntiry</a:t>
              </a:r>
              <a:endParaRPr lang="en-US" sz="2800" dirty="0" smtClean="0">
                <a:latin typeface="DM Serif Display" panose="020B0604020202020204" charset="0"/>
              </a:endParaRPr>
            </a:p>
            <a:p>
              <a:pPr algn="ctr"/>
              <a:r>
                <a:rPr lang="ru-RU" sz="2800" dirty="0" smtClean="0">
                  <a:latin typeface="DM Serif Display" panose="020B0604020202020204" charset="0"/>
                </a:rPr>
                <a:t>(</a:t>
              </a:r>
              <a:r>
                <a:rPr lang="ru-RU" sz="2800" dirty="0">
                  <a:latin typeface="DM Serif Display" panose="020B0604020202020204" charset="0"/>
                </a:rPr>
                <a:t>хранение одной записи пароля)</a:t>
              </a:r>
            </a:p>
            <a:p>
              <a:pPr algn="ctr"/>
              <a:r>
                <a:rPr lang="ru-RU" sz="2800" dirty="0">
                  <a:latin typeface="DM Serif Display" panose="020B0604020202020204" charset="0"/>
                </a:rPr>
                <a:t>Содержит</a:t>
              </a:r>
              <a:r>
                <a:rPr lang="en-US" sz="2800" dirty="0">
                  <a:latin typeface="DM Serif Display" panose="020B0604020202020204" charset="0"/>
                </a:rPr>
                <a:t>:</a:t>
              </a:r>
              <a:endParaRPr lang="ru-RU" sz="2800" dirty="0">
                <a:latin typeface="DM Serif Display" panose="020B0604020202020204" charset="0"/>
              </a:endParaRPr>
            </a:p>
            <a:p>
              <a:pPr algn="ctr"/>
              <a:r>
                <a:rPr lang="ru-RU" sz="2800" dirty="0">
                  <a:latin typeface="DM Serif Display" panose="020B0604020202020204" charset="0"/>
                </a:rPr>
                <a:t>-сайт</a:t>
              </a:r>
            </a:p>
            <a:p>
              <a:pPr algn="ctr"/>
              <a:r>
                <a:rPr lang="ru-RU" sz="2800" dirty="0">
                  <a:latin typeface="DM Serif Display" panose="020B0604020202020204" charset="0"/>
                </a:rPr>
                <a:t>-логин</a:t>
              </a:r>
            </a:p>
            <a:p>
              <a:pPr algn="ctr"/>
              <a:r>
                <a:rPr lang="ru-RU" sz="2800" dirty="0">
                  <a:latin typeface="DM Serif Display" panose="020B0604020202020204" charset="0"/>
                </a:rPr>
                <a:t>-пароль</a:t>
              </a:r>
            </a:p>
            <a:p>
              <a:pPr algn="ctr"/>
              <a:r>
                <a:rPr lang="ru-RU" sz="2800" dirty="0">
                  <a:latin typeface="DM Serif Display" panose="020B0604020202020204" charset="0"/>
                </a:rPr>
                <a:t> </a:t>
              </a:r>
            </a:p>
          </p:txBody>
        </p:sp>
      </p:grpSp>
      <p:grpSp>
        <p:nvGrpSpPr>
          <p:cNvPr id="10" name="Группа 9"/>
          <p:cNvGrpSpPr/>
          <p:nvPr/>
        </p:nvGrpSpPr>
        <p:grpSpPr>
          <a:xfrm>
            <a:off x="11034486" y="5846853"/>
            <a:ext cx="5715000" cy="3558404"/>
            <a:chOff x="5765800" y="2046514"/>
            <a:chExt cx="5715000" cy="3558404"/>
          </a:xfrm>
        </p:grpSpPr>
        <p:sp>
          <p:nvSpPr>
            <p:cNvPr id="11" name="Скругленный прямоугольник 10"/>
            <p:cNvSpPr/>
            <p:nvPr/>
          </p:nvSpPr>
          <p:spPr>
            <a:xfrm>
              <a:off x="5765800" y="2046514"/>
              <a:ext cx="5715000" cy="3558404"/>
            </a:xfrm>
            <a:prstGeom prst="roundRect">
              <a:avLst/>
            </a:prstGeom>
            <a:solidFill>
              <a:srgbClr val="FA6B8C"/>
            </a:solidFill>
            <a:ln>
              <a:solidFill>
                <a:srgbClr val="FA6B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65800" y="2096927"/>
              <a:ext cx="5613400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err="1" smtClean="0">
                  <a:latin typeface="DM Serif Display" panose="020B0604020202020204" charset="0"/>
                </a:rPr>
                <a:t>PasswordManager</a:t>
              </a:r>
              <a:endParaRPr lang="en-US" sz="2800" dirty="0" smtClean="0">
                <a:latin typeface="DM Serif Display" panose="020B0604020202020204" charset="0"/>
              </a:endParaRPr>
            </a:p>
            <a:p>
              <a:pPr algn="ctr"/>
              <a:r>
                <a:rPr lang="ru-RU" sz="2800" dirty="0" smtClean="0">
                  <a:latin typeface="DM Serif Display" panose="020B0604020202020204" charset="0"/>
                </a:rPr>
                <a:t>(управление </a:t>
              </a:r>
              <a:r>
                <a:rPr lang="ru-RU" sz="2800" dirty="0">
                  <a:latin typeface="DM Serif Display" panose="020B0604020202020204" charset="0"/>
                </a:rPr>
                <a:t>всеми паролями(добавление </a:t>
              </a:r>
              <a:r>
                <a:rPr lang="ru-RU" sz="2800" dirty="0" err="1">
                  <a:latin typeface="DM Serif Display" panose="020B0604020202020204" charset="0"/>
                </a:rPr>
                <a:t>записи,поиск</a:t>
              </a:r>
              <a:r>
                <a:rPr lang="ru-RU" sz="2800" dirty="0">
                  <a:latin typeface="DM Serif Display" panose="020B0604020202020204" charset="0"/>
                </a:rPr>
                <a:t> пароля по названию сайта))</a:t>
              </a:r>
            </a:p>
            <a:p>
              <a:pPr algn="ctr"/>
              <a:r>
                <a:rPr lang="ru-RU" sz="2800" dirty="0">
                  <a:latin typeface="DM Serif Display" panose="020B0604020202020204" charset="0"/>
                </a:rPr>
                <a:t>Хранит</a:t>
              </a:r>
              <a:r>
                <a:rPr lang="en-US" sz="2800" dirty="0">
                  <a:latin typeface="DM Serif Display" panose="020B0604020202020204" charset="0"/>
                </a:rPr>
                <a:t>:</a:t>
              </a:r>
              <a:endParaRPr lang="ru-RU" sz="2800" dirty="0">
                <a:latin typeface="DM Serif Display" panose="020B0604020202020204" charset="0"/>
              </a:endParaRPr>
            </a:p>
            <a:p>
              <a:pPr algn="ctr"/>
              <a:r>
                <a:rPr lang="ru-RU" sz="2800" dirty="0">
                  <a:latin typeface="DM Serif Display" panose="020B0604020202020204" charset="0"/>
                </a:rPr>
                <a:t>Список объектов </a:t>
              </a:r>
              <a:r>
                <a:rPr lang="en-US" sz="2800" dirty="0" err="1">
                  <a:latin typeface="DM Serif Display" panose="020B0604020202020204" charset="0"/>
                </a:rPr>
                <a:t>PasswordEntiry</a:t>
              </a:r>
              <a:endParaRPr lang="ru-RU" sz="2800" dirty="0">
                <a:latin typeface="DM Serif Display" panose="020B0604020202020204" charset="0"/>
              </a:endParaRPr>
            </a:p>
          </p:txBody>
        </p:sp>
      </p:grpSp>
      <p:cxnSp>
        <p:nvCxnSpPr>
          <p:cNvPr id="6" name="Прямая со стрелкой 5"/>
          <p:cNvCxnSpPr>
            <a:endCxn id="11" idx="0"/>
          </p:cNvCxnSpPr>
          <p:nvPr/>
        </p:nvCxnSpPr>
        <p:spPr>
          <a:xfrm>
            <a:off x="11480799" y="3311232"/>
            <a:ext cx="2411187" cy="2535621"/>
          </a:xfrm>
          <a:prstGeom prst="straightConnector1">
            <a:avLst/>
          </a:prstGeom>
          <a:ln w="76200">
            <a:solidFill>
              <a:srgbClr val="FA6B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11" idx="1"/>
            <a:endCxn id="8" idx="3"/>
          </p:cNvCxnSpPr>
          <p:nvPr/>
        </p:nvCxnSpPr>
        <p:spPr>
          <a:xfrm flipH="1" flipV="1">
            <a:off x="6223307" y="7426331"/>
            <a:ext cx="4811179" cy="199724"/>
          </a:xfrm>
          <a:prstGeom prst="straightConnector1">
            <a:avLst/>
          </a:prstGeom>
          <a:ln w="76200">
            <a:solidFill>
              <a:srgbClr val="FA6B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6659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475" y="-1502063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2539850" y="340707"/>
            <a:ext cx="13208400" cy="128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400" b="0" i="0" u="none" strike="noStrike" cap="none" dirty="0" smtClean="0">
                <a:solidFill>
                  <a:srgbClr val="1F1F1F"/>
                </a:solidFill>
                <a:latin typeface="DM Serif Display" panose="020B0604020202020204" charset="0"/>
                <a:ea typeface="DM Serif Display"/>
                <a:cs typeface="DM Serif Display"/>
                <a:sym typeface="DM Serif Display"/>
              </a:rPr>
              <a:t>Заключение</a:t>
            </a:r>
            <a:endParaRPr dirty="0">
              <a:latin typeface="DM Serif Display" panose="020B060402020202020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5128" y="1621058"/>
            <a:ext cx="1744287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DM Serif Display" panose="020B0604020202020204" charset="0"/>
              </a:rPr>
              <a:t>В </a:t>
            </a:r>
            <a:r>
              <a:rPr lang="ru-RU" sz="2800" dirty="0">
                <a:latin typeface="DM Serif Display" panose="020B0604020202020204" charset="0"/>
              </a:rPr>
              <a:t>ходе выполнения проекта был разработан менеджер паролей с современным графическим интерфейсом на языке </a:t>
            </a:r>
            <a:r>
              <a:rPr lang="ru-RU" sz="2800" dirty="0" err="1">
                <a:latin typeface="DM Serif Display" panose="020B0604020202020204" charset="0"/>
              </a:rPr>
              <a:t>Python</a:t>
            </a:r>
            <a:r>
              <a:rPr lang="ru-RU" sz="2800" dirty="0">
                <a:latin typeface="DM Serif Display" panose="020B0604020202020204" charset="0"/>
              </a:rPr>
              <a:t> с использованием библиотеки </a:t>
            </a:r>
            <a:r>
              <a:rPr lang="ru-RU" sz="2800" dirty="0" err="1">
                <a:latin typeface="DM Serif Display" panose="020B0604020202020204" charset="0"/>
              </a:rPr>
              <a:t>CustomTkinter</a:t>
            </a:r>
            <a:r>
              <a:rPr lang="ru-RU" sz="2800" dirty="0">
                <a:latin typeface="DM Serif Display" panose="020B0604020202020204" charset="0"/>
              </a:rPr>
              <a:t>.</a:t>
            </a:r>
          </a:p>
          <a:p>
            <a:endParaRPr lang="en-US" sz="2800" dirty="0" smtClean="0">
              <a:latin typeface="DM Serif Display" panose="020B0604020202020204" charset="0"/>
            </a:endParaRPr>
          </a:p>
          <a:p>
            <a:r>
              <a:rPr lang="ru-RU" sz="2800" dirty="0" smtClean="0">
                <a:latin typeface="DM Serif Display" panose="020B0604020202020204" charset="0"/>
              </a:rPr>
              <a:t>Разработанное </a:t>
            </a:r>
            <a:r>
              <a:rPr lang="ru-RU" sz="2800" dirty="0">
                <a:latin typeface="DM Serif Display" panose="020B0604020202020204" charset="0"/>
              </a:rPr>
              <a:t>приложение обладает простым и удобным интерфейсом, высокой скоростью работы и может быть улучшено в будущем за счёт добавления:</a:t>
            </a:r>
          </a:p>
          <a:p>
            <a:endParaRPr lang="ru-RU" sz="2800" dirty="0">
              <a:latin typeface="DM Serif Display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DM Serif Display" panose="020B0604020202020204" charset="0"/>
              </a:rPr>
              <a:t>шифрования </a:t>
            </a:r>
            <a:r>
              <a:rPr lang="ru-RU" sz="2800" dirty="0">
                <a:latin typeface="DM Serif Display" panose="020B0604020202020204" charset="0"/>
              </a:rPr>
              <a:t>данных;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DM Serif Display" panose="020B0604020202020204" charset="0"/>
              </a:rPr>
              <a:t> </a:t>
            </a:r>
            <a:r>
              <a:rPr lang="ru-RU" sz="2800" dirty="0">
                <a:latin typeface="DM Serif Display" panose="020B0604020202020204" charset="0"/>
              </a:rPr>
              <a:t>базы данных;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DM Serif Display" panose="020B0604020202020204" charset="0"/>
              </a:rPr>
              <a:t> </a:t>
            </a:r>
            <a:r>
              <a:rPr lang="ru-RU" sz="2800" dirty="0">
                <a:latin typeface="DM Serif Display" panose="020B0604020202020204" charset="0"/>
              </a:rPr>
              <a:t>авторизации пользователя;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DM Serif Display" panose="020B0604020202020204" charset="0"/>
              </a:rPr>
              <a:t> </a:t>
            </a:r>
            <a:r>
              <a:rPr lang="ru-RU" sz="2800" dirty="0">
                <a:latin typeface="DM Serif Display" panose="020B0604020202020204" charset="0"/>
              </a:rPr>
              <a:t>экспорта и импорта данных;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DM Serif Display" panose="020B0604020202020204" charset="0"/>
              </a:rPr>
              <a:t> </a:t>
            </a:r>
            <a:r>
              <a:rPr lang="ru-RU" sz="2800" dirty="0">
                <a:latin typeface="DM Serif Display" panose="020B0604020202020204" charset="0"/>
              </a:rPr>
              <a:t>синхронизации между устройствами.</a:t>
            </a:r>
          </a:p>
          <a:p>
            <a:endParaRPr lang="ru-RU" sz="2800" dirty="0">
              <a:latin typeface="DM Serif Display" panose="020B0604020202020204" charset="0"/>
            </a:endParaRPr>
          </a:p>
          <a:p>
            <a:r>
              <a:rPr lang="ru-RU" sz="2800" dirty="0">
                <a:latin typeface="DM Serif Display" panose="020B0604020202020204" charset="0"/>
              </a:rPr>
              <a:t>Таким образом, поставленная цель проекта была успешно достигнута, а разработанное приложение демонстрирует практическое применение </a:t>
            </a:r>
            <a:r>
              <a:rPr lang="ru-RU" sz="2800" dirty="0" err="1">
                <a:latin typeface="DM Serif Display" panose="020B0604020202020204" charset="0"/>
              </a:rPr>
              <a:t>Python</a:t>
            </a:r>
            <a:r>
              <a:rPr lang="ru-RU" sz="2800" dirty="0">
                <a:latin typeface="DM Serif Display" panose="020B0604020202020204" charset="0"/>
              </a:rPr>
              <a:t> и принципов ООП при создании полноценного </a:t>
            </a:r>
            <a:r>
              <a:rPr lang="ru-RU" sz="2800" dirty="0" err="1">
                <a:latin typeface="DM Serif Display" panose="020B0604020202020204" charset="0"/>
              </a:rPr>
              <a:t>desktop</a:t>
            </a:r>
            <a:r>
              <a:rPr lang="ru-RU" sz="2800" dirty="0">
                <a:latin typeface="DM Serif Display" panose="020B0604020202020204" charset="0"/>
              </a:rPr>
              <a:t>-приложения.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475" y="-1502063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2539857" y="3887470"/>
            <a:ext cx="13208400" cy="128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400" b="0" i="0" u="none" strike="noStrike" cap="none" dirty="0" smtClean="0">
                <a:solidFill>
                  <a:srgbClr val="1F1F1F"/>
                </a:solidFill>
                <a:latin typeface="DM Serif Display" panose="020B0604020202020204" charset="0"/>
                <a:ea typeface="DM Serif Display"/>
                <a:cs typeface="DM Serif Display"/>
                <a:sym typeface="DM Serif Display"/>
              </a:rPr>
              <a:t>Спасибо за внимание</a:t>
            </a:r>
            <a:r>
              <a:rPr lang="en-US" sz="10400" b="0" i="0" u="none" strike="noStrike" cap="none" dirty="0" smtClean="0">
                <a:solidFill>
                  <a:srgbClr val="1F1F1F"/>
                </a:solidFill>
                <a:latin typeface="DM Serif Display" panose="020B0604020202020204" charset="0"/>
                <a:ea typeface="DM Serif Display"/>
                <a:cs typeface="DM Serif Display"/>
                <a:sym typeface="DM Serif Display"/>
              </a:rPr>
              <a:t>!</a:t>
            </a:r>
            <a:endParaRPr dirty="0">
              <a:latin typeface="DM Serif Displa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8579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Clean Resu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571</Words>
  <Application>Microsoft Office PowerPoint</Application>
  <PresentationFormat>Произвольный</PresentationFormat>
  <Paragraphs>125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Calibri</vt:lpstr>
      <vt:lpstr>DM Serif Display</vt:lpstr>
      <vt:lpstr>Arial</vt:lpstr>
      <vt:lpstr>DM Sans</vt:lpstr>
      <vt:lpstr>Minimalist Clean Resume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Home</dc:creator>
  <cp:lastModifiedBy>Home</cp:lastModifiedBy>
  <cp:revision>16</cp:revision>
  <dcterms:modified xsi:type="dcterms:W3CDTF">2026-05-28T07:56:12Z</dcterms:modified>
</cp:coreProperties>
</file>